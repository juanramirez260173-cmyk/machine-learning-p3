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58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 8D / PQM de Escalación de Calidad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· Servicio P3 · Redacción 8D, cierre real de FMEA/plan de control y cockpit PQM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18872"/>
            <a:ext cx="13716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978408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IA/ML PCJ+P3 2026–27 · Wave 1 · Rank 6 · Complejidad media · Estatus: Planificado · Punto de partida: carpeta 8D/PQM Auditor de P3 (base funcional)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" y="1298448"/>
            <a:ext cx="3605479" cy="1874520"/>
          </a:xfrm>
          <a:prstGeom prst="roundRect">
            <a:avLst>
              <a:gd name="adj" fmla="val 3902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408176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" y="137160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proyecto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1682496"/>
            <a:ext cx="338602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que redacta el borrador D1–D8 a partir de evidencia controlada (queja, datos de prueba, 8Ds similares vía RAG) y propone contención y nivel de escalación.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ciclo que casi nadie cierra: verifica con diffs que el PFMEA y el plan de control realmente se actualizaron tras la acción correctiva — no solo que alguien lo prometió.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el cockpit 8D/PQM: estatus, vencimientos, evidencia faltante y aprobación del líder designado. El humano aprueba cada 8D antes de salir al cliente.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291279" y="1298448"/>
            <a:ext cx="3605479" cy="1874520"/>
          </a:xfrm>
          <a:prstGeom prst="roundRect">
            <a:avLst>
              <a:gd name="adj" fmla="val 3902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295" y="140817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75327" y="137160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resuelve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4401007" y="1682496"/>
            <a:ext cx="338602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preparación de un 8D consume días de ingeniería y llega tarde: el cumplimiento on-time ronda 53% contra una meta de 75%.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vínculos con la evidencia son débiles: el 8D se redacta de memoria y la autoridad (OEM o auditor VDA 6.3) encuentra los huecos.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lecciones no regresan al PFMEA ni al plan de control: el mismo modo de falla reaparece y el 8D anterior no sirvió de nada.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8125358" y="1298448"/>
            <a:ext cx="3605479" cy="1874520"/>
          </a:xfrm>
          <a:prstGeom prst="roundRect">
            <a:avLst>
              <a:gd name="adj" fmla="val 3902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374" y="140817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09406" y="137160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general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253374" y="1719072"/>
            <a:ext cx="201168" cy="201168"/>
          </a:xfrm>
          <a:prstGeom prst="ellipse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8253374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4"/>
          <p:cNvSpPr txBox="1"/>
          <p:nvPr/>
        </p:nvSpPr>
        <p:spPr>
          <a:xfrm>
            <a:off x="8527694" y="1700784"/>
            <a:ext cx="307512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Ingesta: queja del cliente + evidencia de pruebas del repositorio controlado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8253374" y="1955292"/>
            <a:ext cx="201168" cy="201168"/>
          </a:xfrm>
          <a:prstGeom prst="ellipse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8253374" y="19552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8527694" y="1937004"/>
            <a:ext cx="307512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de 8Ds históricos: recupera casos similares y acciones que funcionaron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8253374" y="2191512"/>
            <a:ext cx="201168" cy="201168"/>
          </a:xfrm>
          <a:prstGeom prst="ellipse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8253374" y="2191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8527694" y="2173224"/>
            <a:ext cx="307512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Redactor 8D: borrador D1–D8 con citas a evidencia y preguntas por faltantes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8253374" y="2427732"/>
            <a:ext cx="201168" cy="201168"/>
          </a:xfrm>
          <a:prstGeom prst="ellipse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8253374" y="24277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8527694" y="2409444"/>
            <a:ext cx="307512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PFMEA / plan de control: confirma que la actualización realmente ocurrió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8253374" y="2663952"/>
            <a:ext cx="201168" cy="201168"/>
          </a:xfrm>
          <a:prstGeom prst="ellipse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8253374" y="2663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8527694" y="2645664"/>
            <a:ext cx="307512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contención y escalación → aprobación del líder designado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8253374" y="2900172"/>
            <a:ext cx="201168" cy="201168"/>
          </a:xfrm>
          <a:prstGeom prst="ellipse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8253374" y="29001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8527694" y="2881884"/>
            <a:ext cx="307512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8D/PQM (Power BI) + bitácora auditable de cada decisión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457200" y="33375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447288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841248" y="3410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585216" y="3721608"/>
            <a:ext cx="629107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 txBox="1"/>
          <p:nvPr/>
        </p:nvSpPr>
        <p:spPr>
          <a:xfrm>
            <a:off x="585216" y="3721608"/>
            <a:ext cx="629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1269187" y="3721608"/>
            <a:ext cx="54132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 txBox="1"/>
          <p:nvPr/>
        </p:nvSpPr>
        <p:spPr>
          <a:xfrm>
            <a:off x="1269187" y="3721608"/>
            <a:ext cx="5413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</a:t>
            </a:r>
            <a:endParaRPr lang="en-US" sz="750" dirty="0"/>
          </a:p>
        </p:txBody>
      </p:sp>
      <p:sp>
        <p:nvSpPr>
          <p:cNvPr id="43" name="Shape 36"/>
          <p:cNvSpPr/>
          <p:nvPr/>
        </p:nvSpPr>
        <p:spPr>
          <a:xfrm>
            <a:off x="1865376" y="3721608"/>
            <a:ext cx="716889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1865376" y="3721608"/>
            <a:ext cx="7168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750" dirty="0"/>
          </a:p>
        </p:txBody>
      </p:sp>
      <p:sp>
        <p:nvSpPr>
          <p:cNvPr id="45" name="Shape 38"/>
          <p:cNvSpPr/>
          <p:nvPr/>
        </p:nvSpPr>
        <p:spPr>
          <a:xfrm>
            <a:off x="585216" y="3968496"/>
            <a:ext cx="1199692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 txBox="1"/>
          <p:nvPr/>
        </p:nvSpPr>
        <p:spPr>
          <a:xfrm>
            <a:off x="585216" y="3968496"/>
            <a:ext cx="1199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 evidencia</a:t>
            </a:r>
            <a:endParaRPr lang="en-US" sz="750" dirty="0"/>
          </a:p>
        </p:txBody>
      </p:sp>
      <p:sp>
        <p:nvSpPr>
          <p:cNvPr id="47" name="Shape 40"/>
          <p:cNvSpPr/>
          <p:nvPr/>
        </p:nvSpPr>
        <p:spPr>
          <a:xfrm>
            <a:off x="1839772" y="3968496"/>
            <a:ext cx="672998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 txBox="1"/>
          <p:nvPr/>
        </p:nvSpPr>
        <p:spPr>
          <a:xfrm>
            <a:off x="1839772" y="3968496"/>
            <a:ext cx="672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FMEA/PC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2567635" y="3968496"/>
            <a:ext cx="848563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2567635" y="3968496"/>
            <a:ext cx="8485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cockpit</a:t>
            </a:r>
            <a:endParaRPr lang="en-US" sz="750" dirty="0"/>
          </a:p>
        </p:txBody>
      </p:sp>
      <p:sp>
        <p:nvSpPr>
          <p:cNvPr id="51" name="Shape 44"/>
          <p:cNvSpPr/>
          <p:nvPr/>
        </p:nvSpPr>
        <p:spPr>
          <a:xfrm>
            <a:off x="585216" y="4215384"/>
            <a:ext cx="848563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 txBox="1"/>
          <p:nvPr/>
        </p:nvSpPr>
        <p:spPr>
          <a:xfrm>
            <a:off x="585216" y="4215384"/>
            <a:ext cx="8485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openpyxl</a:t>
            </a:r>
            <a:endParaRPr lang="en-US" sz="750" dirty="0"/>
          </a:p>
        </p:txBody>
      </p:sp>
      <p:sp>
        <p:nvSpPr>
          <p:cNvPr id="53" name="Shape 46"/>
          <p:cNvSpPr/>
          <p:nvPr/>
        </p:nvSpPr>
        <p:spPr>
          <a:xfrm>
            <a:off x="1488643" y="4215384"/>
            <a:ext cx="936345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 txBox="1"/>
          <p:nvPr/>
        </p:nvSpPr>
        <p:spPr>
          <a:xfrm>
            <a:off x="1488643" y="4215384"/>
            <a:ext cx="9363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auditable</a:t>
            </a:r>
            <a:endParaRPr lang="en-US" sz="750" dirty="0"/>
          </a:p>
        </p:txBody>
      </p:sp>
      <p:sp>
        <p:nvSpPr>
          <p:cNvPr id="61" name="Text 54"/>
          <p:cNvSpPr txBox="1"/>
          <p:nvPr/>
        </p:nvSpPr>
        <p:spPr>
          <a:xfrm>
            <a:off x="585216" y="472744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universal IATF 16949: aplica a cualquier planta con quejas de cliente.</a:t>
            </a:r>
            <a:endParaRPr lang="en-US" sz="750" dirty="0"/>
          </a:p>
        </p:txBody>
      </p:sp>
      <p:sp>
        <p:nvSpPr>
          <p:cNvPr id="62" name="Shape 55"/>
          <p:cNvSpPr/>
          <p:nvPr/>
        </p:nvSpPr>
        <p:spPr>
          <a:xfrm>
            <a:off x="4069080" y="3337560"/>
            <a:ext cx="4754880" cy="173736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67"/>
          <p:cNvSpPr/>
          <p:nvPr/>
        </p:nvSpPr>
        <p:spPr>
          <a:xfrm>
            <a:off x="9052560" y="3337560"/>
            <a:ext cx="2681935" cy="173736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5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0576" y="3447288"/>
            <a:ext cx="201168" cy="201168"/>
          </a:xfrm>
          <a:prstGeom prst="rect">
            <a:avLst/>
          </a:prstGeom>
        </p:spPr>
      </p:pic>
      <p:sp>
        <p:nvSpPr>
          <p:cNvPr id="86" name="Text 68"/>
          <p:cNvSpPr txBox="1"/>
          <p:nvPr/>
        </p:nvSpPr>
        <p:spPr>
          <a:xfrm>
            <a:off x="9436608" y="3410712"/>
            <a:ext cx="2179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clave (objetivo piloto)</a:t>
            </a:r>
            <a:endParaRPr lang="en-US" sz="1150" dirty="0"/>
          </a:p>
        </p:txBody>
      </p:sp>
      <p:sp>
        <p:nvSpPr>
          <p:cNvPr id="87" name="Shape 69"/>
          <p:cNvSpPr/>
          <p:nvPr/>
        </p:nvSpPr>
        <p:spPr>
          <a:xfrm>
            <a:off x="9180576" y="3721608"/>
            <a:ext cx="116723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70"/>
          <p:cNvSpPr txBox="1"/>
          <p:nvPr/>
        </p:nvSpPr>
        <p:spPr>
          <a:xfrm>
            <a:off x="9180576" y="3749040"/>
            <a:ext cx="1167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44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53→75%</a:t>
            </a:r>
            <a:endParaRPr lang="en-US" sz="1500" dirty="0"/>
          </a:p>
        </p:txBody>
      </p:sp>
      <p:sp>
        <p:nvSpPr>
          <p:cNvPr id="89" name="Text 71"/>
          <p:cNvSpPr txBox="1"/>
          <p:nvPr/>
        </p:nvSpPr>
        <p:spPr>
          <a:xfrm>
            <a:off x="9226296" y="4014216"/>
            <a:ext cx="1075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 on-time: situación actual → meta comprometida</a:t>
            </a:r>
            <a:endParaRPr lang="en-US" sz="750" dirty="0"/>
          </a:p>
        </p:txBody>
      </p:sp>
      <p:sp>
        <p:nvSpPr>
          <p:cNvPr id="90" name="Shape 72"/>
          <p:cNvSpPr/>
          <p:nvPr/>
        </p:nvSpPr>
        <p:spPr>
          <a:xfrm>
            <a:off x="10439248" y="3721608"/>
            <a:ext cx="116723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73"/>
          <p:cNvSpPr txBox="1"/>
          <p:nvPr/>
        </p:nvSpPr>
        <p:spPr>
          <a:xfrm>
            <a:off x="10439248" y="3749040"/>
            <a:ext cx="1167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44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−60%</a:t>
            </a:r>
            <a:endParaRPr lang="en-US" sz="1500" dirty="0"/>
          </a:p>
        </p:txBody>
      </p:sp>
      <p:sp>
        <p:nvSpPr>
          <p:cNvPr id="92" name="Text 74"/>
          <p:cNvSpPr txBox="1"/>
          <p:nvPr/>
        </p:nvSpPr>
        <p:spPr>
          <a:xfrm>
            <a:off x="10484968" y="4014216"/>
            <a:ext cx="1075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redacción del borrador 8D (objetivo)</a:t>
            </a:r>
            <a:endParaRPr lang="en-US" sz="750" dirty="0"/>
          </a:p>
        </p:txBody>
      </p:sp>
      <p:sp>
        <p:nvSpPr>
          <p:cNvPr id="93" name="Shape 75"/>
          <p:cNvSpPr/>
          <p:nvPr/>
        </p:nvSpPr>
        <p:spPr>
          <a:xfrm>
            <a:off x="9180576" y="4398264"/>
            <a:ext cx="116723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76"/>
          <p:cNvSpPr txBox="1"/>
          <p:nvPr/>
        </p:nvSpPr>
        <p:spPr>
          <a:xfrm>
            <a:off x="9180576" y="4425696"/>
            <a:ext cx="1167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44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500" dirty="0"/>
          </a:p>
        </p:txBody>
      </p:sp>
      <p:sp>
        <p:nvSpPr>
          <p:cNvPr id="95" name="Text 77"/>
          <p:cNvSpPr txBox="1"/>
          <p:nvPr/>
        </p:nvSpPr>
        <p:spPr>
          <a:xfrm>
            <a:off x="9226296" y="4690872"/>
            <a:ext cx="1075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con verificación de FMEA/PC actualizado</a:t>
            </a:r>
            <a:endParaRPr lang="en-US" sz="750" dirty="0"/>
          </a:p>
        </p:txBody>
      </p:sp>
      <p:sp>
        <p:nvSpPr>
          <p:cNvPr id="96" name="Shape 78"/>
          <p:cNvSpPr/>
          <p:nvPr/>
        </p:nvSpPr>
        <p:spPr>
          <a:xfrm>
            <a:off x="10439248" y="4398264"/>
            <a:ext cx="116723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79"/>
          <p:cNvSpPr txBox="1"/>
          <p:nvPr/>
        </p:nvSpPr>
        <p:spPr>
          <a:xfrm>
            <a:off x="10439248" y="4425696"/>
            <a:ext cx="1167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44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sem</a:t>
            </a:r>
            <a:endParaRPr lang="en-US" sz="1500" dirty="0"/>
          </a:p>
        </p:txBody>
      </p:sp>
      <p:sp>
        <p:nvSpPr>
          <p:cNvPr id="98" name="Text 80"/>
          <p:cNvSpPr txBox="1"/>
          <p:nvPr/>
        </p:nvSpPr>
        <p:spPr>
          <a:xfrm>
            <a:off x="10484968" y="4690872"/>
            <a:ext cx="1075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G1 a entrega en producción (G4 26-oct)</a:t>
            </a:r>
            <a:endParaRPr lang="en-US" sz="750" dirty="0"/>
          </a:p>
        </p:txBody>
      </p:sp>
      <p:sp>
        <p:nvSpPr>
          <p:cNvPr id="99" name="Shape 81"/>
          <p:cNvSpPr/>
          <p:nvPr/>
        </p:nvSpPr>
        <p:spPr>
          <a:xfrm>
            <a:off x="457200" y="5239512"/>
            <a:ext cx="11277295" cy="1234440"/>
          </a:xfrm>
          <a:prstGeom prst="roundRect">
            <a:avLst>
              <a:gd name="adj" fmla="val 5926"/>
            </a:avLst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0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792" y="5358384"/>
            <a:ext cx="237744" cy="237744"/>
          </a:xfrm>
          <a:prstGeom prst="rect">
            <a:avLst/>
          </a:prstGeom>
        </p:spPr>
      </p:pic>
      <p:sp>
        <p:nvSpPr>
          <p:cNvPr id="101" name="Text 82"/>
          <p:cNvSpPr txBox="1"/>
          <p:nvPr/>
        </p:nvSpPr>
        <p:spPr>
          <a:xfrm>
            <a:off x="932688" y="53126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contratar este servicio</a:t>
            </a:r>
            <a:endParaRPr lang="en-US" sz="1400" dirty="0"/>
          </a:p>
        </p:txBody>
      </p:sp>
      <p:sp>
        <p:nvSpPr>
          <p:cNvPr id="102" name="Text 83"/>
          <p:cNvSpPr txBox="1"/>
          <p:nvPr/>
        </p:nvSpPr>
        <p:spPr>
          <a:xfrm>
            <a:off x="5029200" y="5330952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2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8D que se redacta de memoria al 8D que se arma con evidencia — y que sí actualiza el FMEA.</a:t>
            </a:r>
            <a:endParaRPr lang="en-US" sz="1050" dirty="0"/>
          </a:p>
        </p:txBody>
      </p:sp>
      <p:sp>
        <p:nvSpPr>
          <p:cNvPr id="103" name="Shape 84"/>
          <p:cNvSpPr/>
          <p:nvPr/>
        </p:nvSpPr>
        <p:spPr>
          <a:xfrm>
            <a:off x="621792" y="5696712"/>
            <a:ext cx="45720" cy="457200"/>
          </a:xfrm>
          <a:prstGeom prst="rect">
            <a:avLst/>
          </a:prstGeom>
          <a:solidFill>
            <a:srgbClr val="C1862F"/>
          </a:solidFill>
          <a:ln w="12700">
            <a:solidFill>
              <a:srgbClr val="C1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85"/>
          <p:cNvSpPr txBox="1"/>
          <p:nvPr/>
        </p:nvSpPr>
        <p:spPr>
          <a:xfrm>
            <a:off x="749808" y="5650992"/>
            <a:ext cx="25061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al OEM a tiempo</a:t>
            </a:r>
            <a:endParaRPr lang="en-US" sz="1000" dirty="0"/>
          </a:p>
        </p:txBody>
      </p:sp>
      <p:sp>
        <p:nvSpPr>
          <p:cNvPr id="105" name="Text 86"/>
          <p:cNvSpPr txBox="1"/>
          <p:nvPr/>
        </p:nvSpPr>
        <p:spPr>
          <a:xfrm>
            <a:off x="749808" y="5852160"/>
            <a:ext cx="25061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Borradores en horas y vencimientos vigilados: el on-time sube hacia la meta de 75%.</a:t>
            </a:r>
            <a:endParaRPr lang="en-US" sz="850" dirty="0"/>
          </a:p>
        </p:txBody>
      </p:sp>
      <p:sp>
        <p:nvSpPr>
          <p:cNvPr id="106" name="Shape 87"/>
          <p:cNvSpPr/>
          <p:nvPr/>
        </p:nvSpPr>
        <p:spPr>
          <a:xfrm>
            <a:off x="3393110" y="5696712"/>
            <a:ext cx="45720" cy="457200"/>
          </a:xfrm>
          <a:prstGeom prst="rect">
            <a:avLst/>
          </a:prstGeom>
          <a:solidFill>
            <a:srgbClr val="C1862F"/>
          </a:solidFill>
          <a:ln w="12700">
            <a:solidFill>
              <a:srgbClr val="C1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88"/>
          <p:cNvSpPr txBox="1"/>
          <p:nvPr/>
        </p:nvSpPr>
        <p:spPr>
          <a:xfrm>
            <a:off x="3521126" y="5650992"/>
            <a:ext cx="25061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citada, no recordada</a:t>
            </a:r>
            <a:endParaRPr lang="en-US" sz="1000" dirty="0"/>
          </a:p>
        </p:txBody>
      </p:sp>
      <p:sp>
        <p:nvSpPr>
          <p:cNvPr id="108" name="Text 89"/>
          <p:cNvSpPr txBox="1"/>
          <p:nvPr/>
        </p:nvSpPr>
        <p:spPr>
          <a:xfrm>
            <a:off x="3521126" y="5852160"/>
            <a:ext cx="25061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 trae su fuente: defendible ante el cliente y ante VDA 6.3 / IATF.</a:t>
            </a:r>
            <a:endParaRPr lang="en-US" sz="850" dirty="0"/>
          </a:p>
        </p:txBody>
      </p:sp>
      <p:sp>
        <p:nvSpPr>
          <p:cNvPr id="109" name="Shape 90"/>
          <p:cNvSpPr/>
          <p:nvPr/>
        </p:nvSpPr>
        <p:spPr>
          <a:xfrm>
            <a:off x="6164428" y="5696712"/>
            <a:ext cx="45720" cy="457200"/>
          </a:xfrm>
          <a:prstGeom prst="rect">
            <a:avLst/>
          </a:prstGeom>
          <a:solidFill>
            <a:srgbClr val="C1862F"/>
          </a:solidFill>
          <a:ln w="12700">
            <a:solidFill>
              <a:srgbClr val="C1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91"/>
          <p:cNvSpPr txBox="1"/>
          <p:nvPr/>
        </p:nvSpPr>
        <p:spPr>
          <a:xfrm>
            <a:off x="6292444" y="5650992"/>
            <a:ext cx="25061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no se repite</a:t>
            </a:r>
            <a:endParaRPr lang="en-US" sz="1000" dirty="0"/>
          </a:p>
        </p:txBody>
      </p:sp>
      <p:sp>
        <p:nvSpPr>
          <p:cNvPr id="111" name="Text 92"/>
          <p:cNvSpPr txBox="1"/>
          <p:nvPr/>
        </p:nvSpPr>
        <p:spPr>
          <a:xfrm>
            <a:off x="6292444" y="5852160"/>
            <a:ext cx="25061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diff confirma que FMEA y plan de control absorbieron la lección — o lo escala.</a:t>
            </a:r>
            <a:endParaRPr lang="en-US" sz="850" dirty="0"/>
          </a:p>
        </p:txBody>
      </p:sp>
      <p:sp>
        <p:nvSpPr>
          <p:cNvPr id="112" name="Shape 93"/>
          <p:cNvSpPr/>
          <p:nvPr/>
        </p:nvSpPr>
        <p:spPr>
          <a:xfrm>
            <a:off x="8935745" y="5696712"/>
            <a:ext cx="45720" cy="457200"/>
          </a:xfrm>
          <a:prstGeom prst="rect">
            <a:avLst/>
          </a:prstGeom>
          <a:solidFill>
            <a:srgbClr val="C1862F"/>
          </a:solidFill>
          <a:ln w="12700">
            <a:solidFill>
              <a:srgbClr val="C1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94"/>
          <p:cNvSpPr txBox="1"/>
          <p:nvPr/>
        </p:nvSpPr>
        <p:spPr>
          <a:xfrm>
            <a:off x="9063761" y="5650992"/>
            <a:ext cx="25061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total PQM</a:t>
            </a:r>
            <a:endParaRPr lang="en-US" sz="1000" dirty="0"/>
          </a:p>
        </p:txBody>
      </p:sp>
      <p:sp>
        <p:nvSpPr>
          <p:cNvPr id="114" name="Text 95"/>
          <p:cNvSpPr txBox="1"/>
          <p:nvPr/>
        </p:nvSpPr>
        <p:spPr>
          <a:xfrm>
            <a:off x="9063761" y="5852160"/>
            <a:ext cx="25061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cockpit con estatus, riesgo y evidencia faltante de cada caso abierto.</a:t>
            </a:r>
            <a:endParaRPr lang="en-US" sz="850" dirty="0"/>
          </a:p>
        </p:txBody>
      </p:sp>
      <p:sp>
        <p:nvSpPr>
          <p:cNvPr id="115" name="Text 96"/>
          <p:cNvSpPr txBox="1"/>
          <p:nvPr/>
        </p:nvSpPr>
        <p:spPr>
          <a:xfrm>
            <a:off x="621792" y="6199632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escalación de cliente evitada (nivel CS2 o paro de línea del OEM) cuesta más que años de este servicio. La calidad deja de perseguir papeles.</a:t>
            </a:r>
            <a:endParaRPr lang="en-US" sz="950" dirty="0"/>
          </a:p>
        </p:txBody>
      </p:sp>
      <p:sp>
        <p:nvSpPr>
          <p:cNvPr id="116" name="Text 97"/>
          <p:cNvSpPr txBox="1"/>
          <p:nvPr/>
        </p:nvSpPr>
        <p:spPr>
          <a:xfrm>
            <a:off x="457200" y="6510528"/>
            <a:ext cx="112772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S1–S2 repositorio + RAG · S3–S4 redactor 8D · S5 diff FMEA/PC · S6–S7 piloto con casos reales  |  Gates PCJ: G1 14-sep · G2 28-sep · G3 12-oct · G4 26-oct · G5 16-nov-2026</a:t>
            </a:r>
            <a:endParaRPr lang="en-US" sz="750" dirty="0"/>
          </a:p>
        </p:txBody>
      </p:sp>
      <p:sp>
        <p:nvSpPr>
          <p:cNvPr id="117" name="Text 98"/>
          <p:cNvSpPr txBox="1"/>
          <p:nvPr/>
        </p:nvSpPr>
        <p:spPr>
          <a:xfrm>
            <a:off x="457200" y="6656832"/>
            <a:ext cx="112772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· Processes &amp; Compliance Joint · Top Risk Management Services Provider in Latin America</a:t>
            </a:r>
            <a:endParaRPr lang="en-US" sz="700" dirty="0"/>
          </a:p>
        </p:txBody>
      </p:sp>
      <p:sp>
        <p:nvSpPr>
          <p:cNvPr id="118" name="V3 sketch heading"/>
          <p:cNvSpPr txBox="1"/>
          <p:nvPr/>
        </p:nvSpPr>
        <p:spPr>
          <a:xfrm>
            <a:off x="4215384" y="3419856"/>
            <a:ext cx="44439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9447D"/>
                </a:solidFill>
                <a:latin typeface="Calibri"/>
              </a:rPr>
              <a:t>El agente en acción</a:t>
            </a:r>
          </a:p>
        </p:txBody>
      </p:sp>
      <p:sp>
        <p:nvSpPr>
          <p:cNvPr id="119" name="V3 role 0"/>
          <p:cNvSpPr txBox="1"/>
          <p:nvPr/>
        </p:nvSpPr>
        <p:spPr>
          <a:xfrm>
            <a:off x="4142231" y="3675887"/>
            <a:ext cx="133502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66758C"/>
                </a:solidFill>
                <a:latin typeface="Calibri"/>
              </a:rPr>
              <a:t>ENTRADAS</a:t>
            </a:r>
          </a:p>
        </p:txBody>
      </p:sp>
      <p:sp>
        <p:nvSpPr>
          <p:cNvPr id="120" name="V3 circle 0"/>
          <p:cNvSpPr/>
          <p:nvPr/>
        </p:nvSpPr>
        <p:spPr>
          <a:xfrm>
            <a:off x="4581144" y="3867912"/>
            <a:ext cx="457200" cy="457200"/>
          </a:xfrm>
          <a:prstGeom prst="ellipse">
            <a:avLst/>
          </a:prstGeom>
          <a:solidFill>
            <a:srgbClr val="DCE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1" name="V3 icon 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6864" y="3913632"/>
            <a:ext cx="365760" cy="365760"/>
          </a:xfrm>
          <a:prstGeom prst="rect">
            <a:avLst/>
          </a:prstGeom>
        </p:spPr>
      </p:pic>
      <p:sp>
        <p:nvSpPr>
          <p:cNvPr id="122" name="V3 badge 0"/>
          <p:cNvSpPr/>
          <p:nvPr/>
        </p:nvSpPr>
        <p:spPr>
          <a:xfrm>
            <a:off x="4489704" y="3817620"/>
            <a:ext cx="155448" cy="155448"/>
          </a:xfrm>
          <a:prstGeom prst="ellipse">
            <a:avLst/>
          </a:prstGeom>
          <a:solidFill>
            <a:srgbClr val="194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3" name="V3 label 0"/>
          <p:cNvSpPr txBox="1"/>
          <p:nvPr/>
        </p:nvSpPr>
        <p:spPr>
          <a:xfrm>
            <a:off x="4078224" y="4370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19447D"/>
                </a:solidFill>
                <a:latin typeface="Calibri"/>
              </a:rPr>
              <a:t>Problema y</a:t>
            </a:r>
          </a:p>
          <a:p>
            <a:pPr algn="ctr"/>
            <a:r>
              <a:rPr sz="830" b="1">
                <a:solidFill>
                  <a:srgbClr val="19447D"/>
                </a:solidFill>
                <a:latin typeface="Calibri"/>
              </a:rPr>
              <a:t>evidencia de calidad</a:t>
            </a:r>
          </a:p>
        </p:txBody>
      </p:sp>
      <p:sp>
        <p:nvSpPr>
          <p:cNvPr id="124" name="V3 role 1"/>
          <p:cNvSpPr txBox="1"/>
          <p:nvPr/>
        </p:nvSpPr>
        <p:spPr>
          <a:xfrm>
            <a:off x="5779008" y="3675887"/>
            <a:ext cx="133502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C1862F"/>
                </a:solidFill>
                <a:latin typeface="Calibri"/>
              </a:rPr>
              <a:t>AGENTE IA</a:t>
            </a:r>
          </a:p>
        </p:txBody>
      </p:sp>
      <p:sp>
        <p:nvSpPr>
          <p:cNvPr id="125" name="V3 circle 1"/>
          <p:cNvSpPr/>
          <p:nvPr/>
        </p:nvSpPr>
        <p:spPr>
          <a:xfrm>
            <a:off x="6217920" y="3867912"/>
            <a:ext cx="457200" cy="457200"/>
          </a:xfrm>
          <a:prstGeom prst="ellipse">
            <a:avLst/>
          </a:prstGeom>
          <a:solidFill>
            <a:srgbClr val="F8E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V3 icon 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3640" y="3913632"/>
            <a:ext cx="365760" cy="365760"/>
          </a:xfrm>
          <a:prstGeom prst="rect">
            <a:avLst/>
          </a:prstGeom>
        </p:spPr>
      </p:pic>
      <p:sp>
        <p:nvSpPr>
          <p:cNvPr id="127" name="V3 badge 1"/>
          <p:cNvSpPr/>
          <p:nvPr/>
        </p:nvSpPr>
        <p:spPr>
          <a:xfrm>
            <a:off x="6126480" y="3817620"/>
            <a:ext cx="155448" cy="155448"/>
          </a:xfrm>
          <a:prstGeom prst="ellipse">
            <a:avLst/>
          </a:prstGeom>
          <a:solidFill>
            <a:srgbClr val="C18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8" name="V3 label 1"/>
          <p:cNvSpPr txBox="1"/>
          <p:nvPr/>
        </p:nvSpPr>
        <p:spPr>
          <a:xfrm>
            <a:off x="5715000" y="4370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19447D"/>
                </a:solidFill>
                <a:latin typeface="Calibri"/>
              </a:rPr>
              <a:t>Prepara 8D y</a:t>
            </a:r>
          </a:p>
          <a:p>
            <a:pPr algn="ctr"/>
            <a:r>
              <a:rPr sz="830" b="1">
                <a:solidFill>
                  <a:srgbClr val="19447D"/>
                </a:solidFill>
                <a:latin typeface="Calibri"/>
              </a:rPr>
              <a:t>revisa coherencia</a:t>
            </a:r>
          </a:p>
        </p:txBody>
      </p:sp>
      <p:sp>
        <p:nvSpPr>
          <p:cNvPr id="129" name="V3 role 2"/>
          <p:cNvSpPr txBox="1"/>
          <p:nvPr/>
        </p:nvSpPr>
        <p:spPr>
          <a:xfrm>
            <a:off x="7415783" y="3675887"/>
            <a:ext cx="133502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66758C"/>
                </a:solidFill>
                <a:latin typeface="Calibri"/>
              </a:rPr>
              <a:t>RESULTADO</a:t>
            </a:r>
          </a:p>
        </p:txBody>
      </p:sp>
      <p:sp>
        <p:nvSpPr>
          <p:cNvPr id="130" name="V3 circle 2"/>
          <p:cNvSpPr/>
          <p:nvPr/>
        </p:nvSpPr>
        <p:spPr>
          <a:xfrm>
            <a:off x="7854696" y="3867912"/>
            <a:ext cx="457200" cy="457200"/>
          </a:xfrm>
          <a:prstGeom prst="ellipse">
            <a:avLst/>
          </a:prstGeom>
          <a:solidFill>
            <a:srgbClr val="DCE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V3 icon 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0416" y="3913632"/>
            <a:ext cx="365760" cy="365760"/>
          </a:xfrm>
          <a:prstGeom prst="rect">
            <a:avLst/>
          </a:prstGeom>
        </p:spPr>
      </p:pic>
      <p:sp>
        <p:nvSpPr>
          <p:cNvPr id="132" name="V3 badge 2"/>
          <p:cNvSpPr/>
          <p:nvPr/>
        </p:nvSpPr>
        <p:spPr>
          <a:xfrm>
            <a:off x="7763256" y="3817620"/>
            <a:ext cx="155448" cy="155448"/>
          </a:xfrm>
          <a:prstGeom prst="ellipse">
            <a:avLst/>
          </a:prstGeom>
          <a:solidFill>
            <a:srgbClr val="194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3" name="V3 label 2"/>
          <p:cNvSpPr txBox="1"/>
          <p:nvPr/>
        </p:nvSpPr>
        <p:spPr>
          <a:xfrm>
            <a:off x="7351775" y="4370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19447D"/>
                </a:solidFill>
                <a:latin typeface="Calibri"/>
              </a:rPr>
              <a:t>Borrador 8D y</a:t>
            </a:r>
          </a:p>
          <a:p>
            <a:pPr algn="ctr"/>
            <a:r>
              <a:rPr sz="830" b="1">
                <a:solidFill>
                  <a:srgbClr val="19447D"/>
                </a:solidFill>
                <a:latin typeface="Calibri"/>
              </a:rPr>
              <a:t>seguimiento PQM</a:t>
            </a:r>
          </a:p>
        </p:txBody>
      </p:sp>
      <p:sp>
        <p:nvSpPr>
          <p:cNvPr id="134" name="V3 arrow"/>
          <p:cNvSpPr/>
          <p:nvPr/>
        </p:nvSpPr>
        <p:spPr>
          <a:xfrm>
            <a:off x="5175504" y="4055364"/>
            <a:ext cx="905256" cy="82296"/>
          </a:xfrm>
          <a:prstGeom prst="rightArrow">
            <a:avLst/>
          </a:prstGeom>
          <a:solidFill>
            <a:srgbClr val="C18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V3 arrow"/>
          <p:cNvSpPr/>
          <p:nvPr/>
        </p:nvSpPr>
        <p:spPr>
          <a:xfrm>
            <a:off x="6812280" y="4055364"/>
            <a:ext cx="905256" cy="82296"/>
          </a:xfrm>
          <a:prstGeom prst="rightArrow">
            <a:avLst/>
          </a:prstGeom>
          <a:solidFill>
            <a:srgbClr val="C18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V3 considerations"/>
          <p:cNvSpPr txBox="1"/>
          <p:nvPr/>
        </p:nvSpPr>
        <p:spPr>
          <a:xfrm>
            <a:off x="4215384" y="4773168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0" i="1">
                <a:solidFill>
                  <a:srgbClr val="66758C"/>
                </a:solidFill>
                <a:latin typeface="Calibri"/>
              </a:rPr>
              <a:t>Consideraciones: requiere repositorio de evidencia controlado y disciplinado · el RAG vale lo que el histórico de 8Ds digitalizado disponible.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10972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8D / PQM Quality-Escalation Agent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one-pager · P3 service · 8D drafting, real FMEA/control-plan closure and PQM cockpit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118872"/>
            <a:ext cx="13716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978408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PCJ+P3 AI/ML portfolio 2026–27 · Wave 1 · Rank 6 · Medium complexity · Status: Planned · Starting point: P3 8D/PQM Auditor folder (working base)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57200" y="1298448"/>
            <a:ext cx="3605479" cy="1874520"/>
          </a:xfrm>
          <a:prstGeom prst="roundRect">
            <a:avLst>
              <a:gd name="adj" fmla="val 3902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408176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41248" y="137160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1682496"/>
            <a:ext cx="338602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drafts D1–D8 from controlled evidence (complaint, test data, similar past 8Ds via RAG) and proposes containment and escalation level.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closes the loop almost nobody closes: it verifies with diffs that the PFMEA and control plan were actually updated after the corrective action — not merely promised.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publishes the 8D/PQM cockpit: status, due dates, missing evidence and named-lead approval. A human approves every 8D before it reaches the customer.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291279" y="1298448"/>
            <a:ext cx="3605479" cy="1874520"/>
          </a:xfrm>
          <a:prstGeom prst="roundRect">
            <a:avLst>
              <a:gd name="adj" fmla="val 3902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295" y="140817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75327" y="137160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it solves</a:t>
            </a:r>
            <a:endParaRPr lang="en-US" sz="1150" dirty="0"/>
          </a:p>
        </p:txBody>
      </p:sp>
      <p:sp>
        <p:nvSpPr>
          <p:cNvPr id="14" name="Text 9"/>
          <p:cNvSpPr txBox="1"/>
          <p:nvPr/>
        </p:nvSpPr>
        <p:spPr>
          <a:xfrm>
            <a:off x="4401007" y="1682496"/>
            <a:ext cx="338602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an 8D burns engineering days and lands late: on-time performance runs ~53% against a 75% target.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links are weak: the 8D is written from memory and the OEM or VDA 6.3 auditor finds the gaps.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never flow back into the PFMEA and control plan: the same failure mode returns and the previous 8D bought nothing.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8125358" y="1298448"/>
            <a:ext cx="3605479" cy="1874520"/>
          </a:xfrm>
          <a:prstGeom prst="roundRect">
            <a:avLst>
              <a:gd name="adj" fmla="val 3902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374" y="1408176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09406" y="1371600"/>
            <a:ext cx="310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architecture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253374" y="1719072"/>
            <a:ext cx="201168" cy="201168"/>
          </a:xfrm>
          <a:prstGeom prst="ellipse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 txBox="1"/>
          <p:nvPr/>
        </p:nvSpPr>
        <p:spPr>
          <a:xfrm>
            <a:off x="8253374" y="17190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0" name="Text 14"/>
          <p:cNvSpPr txBox="1"/>
          <p:nvPr/>
        </p:nvSpPr>
        <p:spPr>
          <a:xfrm>
            <a:off x="8527694" y="1700784"/>
            <a:ext cx="307512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Ingestion: customer complaint + test evidence from the controlled repository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8253374" y="1955292"/>
            <a:ext cx="201168" cy="201168"/>
          </a:xfrm>
          <a:prstGeom prst="ellipse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8253374" y="19552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8527694" y="1937004"/>
            <a:ext cx="307512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historical 8Ds: retrieves similar cases and actions that worked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8253374" y="2191512"/>
            <a:ext cx="201168" cy="201168"/>
          </a:xfrm>
          <a:prstGeom prst="ellipse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 txBox="1"/>
          <p:nvPr/>
        </p:nvSpPr>
        <p:spPr>
          <a:xfrm>
            <a:off x="8253374" y="2191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8527694" y="2173224"/>
            <a:ext cx="307512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 drafter: D1–D8 draft with evidence citations and missing-evidence questions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8253374" y="2427732"/>
            <a:ext cx="201168" cy="201168"/>
          </a:xfrm>
          <a:prstGeom prst="ellipse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8253374" y="24277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8527694" y="2409444"/>
            <a:ext cx="307512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PFMEA / control-plan diff: confirms the update actually happened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8253374" y="2663952"/>
            <a:ext cx="201168" cy="201168"/>
          </a:xfrm>
          <a:prstGeom prst="ellipse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 txBox="1"/>
          <p:nvPr/>
        </p:nvSpPr>
        <p:spPr>
          <a:xfrm>
            <a:off x="8253374" y="2663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8527694" y="2645664"/>
            <a:ext cx="307512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&amp; escalation proposal → named-lead approval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8253374" y="2900172"/>
            <a:ext cx="201168" cy="201168"/>
          </a:xfrm>
          <a:prstGeom prst="ellipse">
            <a:avLst/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8253374" y="29001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8527694" y="2881884"/>
            <a:ext cx="307512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8D/PQM cockpit (Power BI) + audit log of every decision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457200" y="333756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3447288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841248" y="3410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585216" y="3721608"/>
            <a:ext cx="629107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 txBox="1"/>
          <p:nvPr/>
        </p:nvSpPr>
        <p:spPr>
          <a:xfrm>
            <a:off x="585216" y="3721608"/>
            <a:ext cx="6291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1269187" y="3721608"/>
            <a:ext cx="54132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 txBox="1"/>
          <p:nvPr/>
        </p:nvSpPr>
        <p:spPr>
          <a:xfrm>
            <a:off x="1269187" y="3721608"/>
            <a:ext cx="5413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RAG</a:t>
            </a:r>
            <a:endParaRPr lang="en-US" sz="750" dirty="0"/>
          </a:p>
        </p:txBody>
      </p:sp>
      <p:sp>
        <p:nvSpPr>
          <p:cNvPr id="43" name="Shape 36"/>
          <p:cNvSpPr/>
          <p:nvPr/>
        </p:nvSpPr>
        <p:spPr>
          <a:xfrm>
            <a:off x="1865376" y="3721608"/>
            <a:ext cx="716889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 txBox="1"/>
          <p:nvPr/>
        </p:nvSpPr>
        <p:spPr>
          <a:xfrm>
            <a:off x="1865376" y="3721608"/>
            <a:ext cx="7168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Sentence-BERT</a:t>
            </a:r>
            <a:endParaRPr lang="en-US" sz="750" dirty="0"/>
          </a:p>
        </p:txBody>
      </p:sp>
      <p:sp>
        <p:nvSpPr>
          <p:cNvPr id="45" name="Shape 38"/>
          <p:cNvSpPr/>
          <p:nvPr/>
        </p:nvSpPr>
        <p:spPr>
          <a:xfrm>
            <a:off x="2637129" y="3721608"/>
            <a:ext cx="980236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 txBox="1"/>
          <p:nvPr/>
        </p:nvSpPr>
        <p:spPr>
          <a:xfrm>
            <a:off x="2637129" y="3721608"/>
            <a:ext cx="980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repository</a:t>
            </a:r>
            <a:endParaRPr lang="en-US" sz="750" dirty="0"/>
          </a:p>
        </p:txBody>
      </p:sp>
      <p:sp>
        <p:nvSpPr>
          <p:cNvPr id="47" name="Shape 40"/>
          <p:cNvSpPr/>
          <p:nvPr/>
        </p:nvSpPr>
        <p:spPr>
          <a:xfrm>
            <a:off x="585216" y="3968496"/>
            <a:ext cx="672998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 txBox="1"/>
          <p:nvPr/>
        </p:nvSpPr>
        <p:spPr>
          <a:xfrm>
            <a:off x="585216" y="3968496"/>
            <a:ext cx="672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FMEA/CP diff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1313078" y="3968496"/>
            <a:ext cx="848563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 txBox="1"/>
          <p:nvPr/>
        </p:nvSpPr>
        <p:spPr>
          <a:xfrm>
            <a:off x="1313078" y="3968496"/>
            <a:ext cx="8485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cockpit</a:t>
            </a:r>
            <a:endParaRPr lang="en-US" sz="750" dirty="0"/>
          </a:p>
        </p:txBody>
      </p:sp>
      <p:sp>
        <p:nvSpPr>
          <p:cNvPr id="51" name="Shape 44"/>
          <p:cNvSpPr/>
          <p:nvPr/>
        </p:nvSpPr>
        <p:spPr>
          <a:xfrm>
            <a:off x="2216505" y="3968496"/>
            <a:ext cx="848563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 txBox="1"/>
          <p:nvPr/>
        </p:nvSpPr>
        <p:spPr>
          <a:xfrm>
            <a:off x="2216505" y="3968496"/>
            <a:ext cx="84856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openpyxl</a:t>
            </a:r>
            <a:endParaRPr lang="en-US" sz="750" dirty="0"/>
          </a:p>
        </p:txBody>
      </p:sp>
      <p:sp>
        <p:nvSpPr>
          <p:cNvPr id="53" name="Shape 46"/>
          <p:cNvSpPr/>
          <p:nvPr/>
        </p:nvSpPr>
        <p:spPr>
          <a:xfrm>
            <a:off x="3119932" y="3968496"/>
            <a:ext cx="541324" cy="201168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9525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7"/>
          <p:cNvSpPr txBox="1"/>
          <p:nvPr/>
        </p:nvSpPr>
        <p:spPr>
          <a:xfrm>
            <a:off x="3119932" y="3968496"/>
            <a:ext cx="5413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750" dirty="0"/>
          </a:p>
        </p:txBody>
      </p:sp>
      <p:sp>
        <p:nvSpPr>
          <p:cNvPr id="61" name="Text 54"/>
          <p:cNvSpPr txBox="1"/>
          <p:nvPr/>
        </p:nvSpPr>
        <p:spPr>
          <a:xfrm>
            <a:off x="585216" y="472744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universal IATF 16949 discipline: applies to any plant handling customer complaints.</a:t>
            </a:r>
            <a:endParaRPr lang="en-US" sz="750" dirty="0"/>
          </a:p>
        </p:txBody>
      </p:sp>
      <p:sp>
        <p:nvSpPr>
          <p:cNvPr id="62" name="Shape 55"/>
          <p:cNvSpPr/>
          <p:nvPr/>
        </p:nvSpPr>
        <p:spPr>
          <a:xfrm>
            <a:off x="4069080" y="3337560"/>
            <a:ext cx="4754880" cy="173736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67"/>
          <p:cNvSpPr/>
          <p:nvPr/>
        </p:nvSpPr>
        <p:spPr>
          <a:xfrm>
            <a:off x="9052560" y="3337560"/>
            <a:ext cx="2681935" cy="1737360"/>
          </a:xfrm>
          <a:prstGeom prst="roundRect">
            <a:avLst>
              <a:gd name="adj" fmla="val 4211"/>
            </a:avLst>
          </a:prstGeom>
          <a:solidFill>
            <a:srgbClr val="EEF2F8"/>
          </a:solidFill>
          <a:ln w="9525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5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0576" y="3447288"/>
            <a:ext cx="201168" cy="201168"/>
          </a:xfrm>
          <a:prstGeom prst="rect">
            <a:avLst/>
          </a:prstGeom>
        </p:spPr>
      </p:pic>
      <p:sp>
        <p:nvSpPr>
          <p:cNvPr id="86" name="Text 68"/>
          <p:cNvSpPr txBox="1"/>
          <p:nvPr/>
        </p:nvSpPr>
        <p:spPr>
          <a:xfrm>
            <a:off x="9436608" y="3410712"/>
            <a:ext cx="2179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944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 (pilot targets)</a:t>
            </a:r>
            <a:endParaRPr lang="en-US" sz="1150" dirty="0"/>
          </a:p>
        </p:txBody>
      </p:sp>
      <p:sp>
        <p:nvSpPr>
          <p:cNvPr id="87" name="Shape 69"/>
          <p:cNvSpPr/>
          <p:nvPr/>
        </p:nvSpPr>
        <p:spPr>
          <a:xfrm>
            <a:off x="9180576" y="3721608"/>
            <a:ext cx="116723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70"/>
          <p:cNvSpPr txBox="1"/>
          <p:nvPr/>
        </p:nvSpPr>
        <p:spPr>
          <a:xfrm>
            <a:off x="9180576" y="3749040"/>
            <a:ext cx="1167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44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53→75%</a:t>
            </a:r>
            <a:endParaRPr lang="en-US" sz="1500" dirty="0"/>
          </a:p>
        </p:txBody>
      </p:sp>
      <p:sp>
        <p:nvSpPr>
          <p:cNvPr id="89" name="Text 71"/>
          <p:cNvSpPr txBox="1"/>
          <p:nvPr/>
        </p:nvSpPr>
        <p:spPr>
          <a:xfrm>
            <a:off x="9226296" y="4014216"/>
            <a:ext cx="1075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 on-time: current state → committed target</a:t>
            </a:r>
            <a:endParaRPr lang="en-US" sz="750" dirty="0"/>
          </a:p>
        </p:txBody>
      </p:sp>
      <p:sp>
        <p:nvSpPr>
          <p:cNvPr id="90" name="Shape 72"/>
          <p:cNvSpPr/>
          <p:nvPr/>
        </p:nvSpPr>
        <p:spPr>
          <a:xfrm>
            <a:off x="10439248" y="3721608"/>
            <a:ext cx="116723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73"/>
          <p:cNvSpPr txBox="1"/>
          <p:nvPr/>
        </p:nvSpPr>
        <p:spPr>
          <a:xfrm>
            <a:off x="10439248" y="3749040"/>
            <a:ext cx="1167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44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−60%</a:t>
            </a:r>
            <a:endParaRPr lang="en-US" sz="1500" dirty="0"/>
          </a:p>
        </p:txBody>
      </p:sp>
      <p:sp>
        <p:nvSpPr>
          <p:cNvPr id="92" name="Text 74"/>
          <p:cNvSpPr txBox="1"/>
          <p:nvPr/>
        </p:nvSpPr>
        <p:spPr>
          <a:xfrm>
            <a:off x="10484968" y="4014216"/>
            <a:ext cx="1075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 draft preparation time (target)</a:t>
            </a:r>
            <a:endParaRPr lang="en-US" sz="750" dirty="0"/>
          </a:p>
        </p:txBody>
      </p:sp>
      <p:sp>
        <p:nvSpPr>
          <p:cNvPr id="93" name="Shape 75"/>
          <p:cNvSpPr/>
          <p:nvPr/>
        </p:nvSpPr>
        <p:spPr>
          <a:xfrm>
            <a:off x="9180576" y="4398264"/>
            <a:ext cx="116723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76"/>
          <p:cNvSpPr txBox="1"/>
          <p:nvPr/>
        </p:nvSpPr>
        <p:spPr>
          <a:xfrm>
            <a:off x="9180576" y="4425696"/>
            <a:ext cx="1167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44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500" dirty="0"/>
          </a:p>
        </p:txBody>
      </p:sp>
      <p:sp>
        <p:nvSpPr>
          <p:cNvPr id="95" name="Text 77"/>
          <p:cNvSpPr txBox="1"/>
          <p:nvPr/>
        </p:nvSpPr>
        <p:spPr>
          <a:xfrm>
            <a:off x="9226296" y="4690872"/>
            <a:ext cx="1075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verified against updated FMEA/CP</a:t>
            </a:r>
            <a:endParaRPr lang="en-US" sz="750" dirty="0"/>
          </a:p>
        </p:txBody>
      </p:sp>
      <p:sp>
        <p:nvSpPr>
          <p:cNvPr id="96" name="Shape 78"/>
          <p:cNvSpPr/>
          <p:nvPr/>
        </p:nvSpPr>
        <p:spPr>
          <a:xfrm>
            <a:off x="10439248" y="4398264"/>
            <a:ext cx="1167232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6D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79"/>
          <p:cNvSpPr txBox="1"/>
          <p:nvPr/>
        </p:nvSpPr>
        <p:spPr>
          <a:xfrm>
            <a:off x="10439248" y="4425696"/>
            <a:ext cx="1167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447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wks</a:t>
            </a:r>
            <a:endParaRPr lang="en-US" sz="1500" dirty="0"/>
          </a:p>
        </p:txBody>
      </p:sp>
      <p:sp>
        <p:nvSpPr>
          <p:cNvPr id="98" name="Text 80"/>
          <p:cNvSpPr txBox="1"/>
          <p:nvPr/>
        </p:nvSpPr>
        <p:spPr>
          <a:xfrm>
            <a:off x="10484968" y="4690872"/>
            <a:ext cx="10757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G1 to production release (G4 26-Oct)</a:t>
            </a:r>
            <a:endParaRPr lang="en-US" sz="750" dirty="0"/>
          </a:p>
        </p:txBody>
      </p:sp>
      <p:sp>
        <p:nvSpPr>
          <p:cNvPr id="99" name="Shape 81"/>
          <p:cNvSpPr/>
          <p:nvPr/>
        </p:nvSpPr>
        <p:spPr>
          <a:xfrm>
            <a:off x="457200" y="5239512"/>
            <a:ext cx="11277295" cy="1234440"/>
          </a:xfrm>
          <a:prstGeom prst="roundRect">
            <a:avLst>
              <a:gd name="adj" fmla="val 5926"/>
            </a:avLst>
          </a:prstGeom>
          <a:solidFill>
            <a:srgbClr val="19447D"/>
          </a:solidFill>
          <a:ln w="12700">
            <a:solidFill>
              <a:srgbClr val="1944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0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792" y="5358384"/>
            <a:ext cx="237744" cy="237744"/>
          </a:xfrm>
          <a:prstGeom prst="rect">
            <a:avLst/>
          </a:prstGeom>
        </p:spPr>
      </p:pic>
      <p:sp>
        <p:nvSpPr>
          <p:cNvPr id="101" name="Text 82"/>
          <p:cNvSpPr txBox="1"/>
          <p:nvPr/>
        </p:nvSpPr>
        <p:spPr>
          <a:xfrm>
            <a:off x="932688" y="53126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buy this service</a:t>
            </a:r>
            <a:endParaRPr lang="en-US" sz="1400" dirty="0"/>
          </a:p>
        </p:txBody>
      </p:sp>
      <p:sp>
        <p:nvSpPr>
          <p:cNvPr id="102" name="Text 83"/>
          <p:cNvSpPr txBox="1"/>
          <p:nvPr/>
        </p:nvSpPr>
        <p:spPr>
          <a:xfrm>
            <a:off x="5029200" y="5330952"/>
            <a:ext cx="6537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i="1" dirty="0">
                <a:solidFill>
                  <a:srgbClr val="F2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8D written from memory to the 8D built on evidence — one that actually updates the FMEA.</a:t>
            </a:r>
            <a:endParaRPr lang="en-US" sz="1050" dirty="0"/>
          </a:p>
        </p:txBody>
      </p:sp>
      <p:sp>
        <p:nvSpPr>
          <p:cNvPr id="103" name="Shape 84"/>
          <p:cNvSpPr/>
          <p:nvPr/>
        </p:nvSpPr>
        <p:spPr>
          <a:xfrm>
            <a:off x="621792" y="5696712"/>
            <a:ext cx="45720" cy="457200"/>
          </a:xfrm>
          <a:prstGeom prst="rect">
            <a:avLst/>
          </a:prstGeom>
          <a:solidFill>
            <a:srgbClr val="C1862F"/>
          </a:solidFill>
          <a:ln w="12700">
            <a:solidFill>
              <a:srgbClr val="C1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85"/>
          <p:cNvSpPr txBox="1"/>
          <p:nvPr/>
        </p:nvSpPr>
        <p:spPr>
          <a:xfrm>
            <a:off x="749808" y="5650992"/>
            <a:ext cx="25061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OEM on time</a:t>
            </a:r>
            <a:endParaRPr lang="en-US" sz="1000" dirty="0"/>
          </a:p>
        </p:txBody>
      </p:sp>
      <p:sp>
        <p:nvSpPr>
          <p:cNvPr id="105" name="Text 86"/>
          <p:cNvSpPr txBox="1"/>
          <p:nvPr/>
        </p:nvSpPr>
        <p:spPr>
          <a:xfrm>
            <a:off x="749808" y="5852160"/>
            <a:ext cx="25061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in hours and monitored due dates: on-time climbs toward the 75% target.</a:t>
            </a:r>
            <a:endParaRPr lang="en-US" sz="850" dirty="0"/>
          </a:p>
        </p:txBody>
      </p:sp>
      <p:sp>
        <p:nvSpPr>
          <p:cNvPr id="106" name="Shape 87"/>
          <p:cNvSpPr/>
          <p:nvPr/>
        </p:nvSpPr>
        <p:spPr>
          <a:xfrm>
            <a:off x="3393110" y="5696712"/>
            <a:ext cx="45720" cy="457200"/>
          </a:xfrm>
          <a:prstGeom prst="rect">
            <a:avLst/>
          </a:prstGeom>
          <a:solidFill>
            <a:srgbClr val="C1862F"/>
          </a:solidFill>
          <a:ln w="12700">
            <a:solidFill>
              <a:srgbClr val="C1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88"/>
          <p:cNvSpPr txBox="1"/>
          <p:nvPr/>
        </p:nvSpPr>
        <p:spPr>
          <a:xfrm>
            <a:off x="3521126" y="5650992"/>
            <a:ext cx="25061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cited, not recalled</a:t>
            </a:r>
            <a:endParaRPr lang="en-US" sz="1000" dirty="0"/>
          </a:p>
        </p:txBody>
      </p:sp>
      <p:sp>
        <p:nvSpPr>
          <p:cNvPr id="108" name="Text 89"/>
          <p:cNvSpPr txBox="1"/>
          <p:nvPr/>
        </p:nvSpPr>
        <p:spPr>
          <a:xfrm>
            <a:off x="3521126" y="5852160"/>
            <a:ext cx="25061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 carries its source: defensible to the customer and to VDA 6.3 / IATF.</a:t>
            </a:r>
            <a:endParaRPr lang="en-US" sz="850" dirty="0"/>
          </a:p>
        </p:txBody>
      </p:sp>
      <p:sp>
        <p:nvSpPr>
          <p:cNvPr id="109" name="Shape 90"/>
          <p:cNvSpPr/>
          <p:nvPr/>
        </p:nvSpPr>
        <p:spPr>
          <a:xfrm>
            <a:off x="6164428" y="5696712"/>
            <a:ext cx="45720" cy="457200"/>
          </a:xfrm>
          <a:prstGeom prst="rect">
            <a:avLst/>
          </a:prstGeom>
          <a:solidFill>
            <a:srgbClr val="C1862F"/>
          </a:solidFill>
          <a:ln w="12700">
            <a:solidFill>
              <a:srgbClr val="C1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91"/>
          <p:cNvSpPr txBox="1"/>
          <p:nvPr/>
        </p:nvSpPr>
        <p:spPr>
          <a:xfrm>
            <a:off x="6292444" y="5650992"/>
            <a:ext cx="25061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does not return</a:t>
            </a:r>
            <a:endParaRPr lang="en-US" sz="1000" dirty="0"/>
          </a:p>
        </p:txBody>
      </p:sp>
      <p:sp>
        <p:nvSpPr>
          <p:cNvPr id="111" name="Text 92"/>
          <p:cNvSpPr txBox="1"/>
          <p:nvPr/>
        </p:nvSpPr>
        <p:spPr>
          <a:xfrm>
            <a:off x="6292444" y="5852160"/>
            <a:ext cx="25061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 confirms FMEA and control plan absorbed the lesson — or escalates it.</a:t>
            </a:r>
            <a:endParaRPr lang="en-US" sz="850" dirty="0"/>
          </a:p>
        </p:txBody>
      </p:sp>
      <p:sp>
        <p:nvSpPr>
          <p:cNvPr id="112" name="Shape 93"/>
          <p:cNvSpPr/>
          <p:nvPr/>
        </p:nvSpPr>
        <p:spPr>
          <a:xfrm>
            <a:off x="8935745" y="5696712"/>
            <a:ext cx="45720" cy="457200"/>
          </a:xfrm>
          <a:prstGeom prst="rect">
            <a:avLst/>
          </a:prstGeom>
          <a:solidFill>
            <a:srgbClr val="C1862F"/>
          </a:solidFill>
          <a:ln w="12700">
            <a:solidFill>
              <a:srgbClr val="C18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94"/>
          <p:cNvSpPr txBox="1"/>
          <p:nvPr/>
        </p:nvSpPr>
        <p:spPr>
          <a:xfrm>
            <a:off x="9063761" y="5650992"/>
            <a:ext cx="25061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PQM visibility</a:t>
            </a:r>
            <a:endParaRPr lang="en-US" sz="1000" dirty="0"/>
          </a:p>
        </p:txBody>
      </p:sp>
      <p:sp>
        <p:nvSpPr>
          <p:cNvPr id="114" name="Text 95"/>
          <p:cNvSpPr txBox="1"/>
          <p:nvPr/>
        </p:nvSpPr>
        <p:spPr>
          <a:xfrm>
            <a:off x="9063761" y="5852160"/>
            <a:ext cx="25061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cockpit with status, risk and missing evidence for every open case.</a:t>
            </a:r>
            <a:endParaRPr lang="en-US" sz="850" dirty="0"/>
          </a:p>
        </p:txBody>
      </p:sp>
      <p:sp>
        <p:nvSpPr>
          <p:cNvPr id="115" name="Text 96"/>
          <p:cNvSpPr txBox="1"/>
          <p:nvPr/>
        </p:nvSpPr>
        <p:spPr>
          <a:xfrm>
            <a:off x="621792" y="6199632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2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avoided customer escalation (CS2 level or an OEM line stop) costs more than years of this service. Quality stops chasing paperwork.</a:t>
            </a:r>
            <a:endParaRPr lang="en-US" sz="950" dirty="0"/>
          </a:p>
        </p:txBody>
      </p:sp>
      <p:sp>
        <p:nvSpPr>
          <p:cNvPr id="116" name="Text 97"/>
          <p:cNvSpPr txBox="1"/>
          <p:nvPr/>
        </p:nvSpPr>
        <p:spPr>
          <a:xfrm>
            <a:off x="457200" y="6510528"/>
            <a:ext cx="112772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W1–W2 repository + RAG · W3–W4 8D drafter · W5 FMEA/CP diff · W6–W7 pilot on real cases  |  PCJ gates: G1 14-Sep · G2 28-Sep · G3 12-Oct · G4 26-Oct · G5 16-Nov-2026</a:t>
            </a:r>
            <a:endParaRPr lang="en-US" sz="750" dirty="0"/>
          </a:p>
        </p:txBody>
      </p:sp>
      <p:sp>
        <p:nvSpPr>
          <p:cNvPr id="117" name="Text 98"/>
          <p:cNvSpPr txBox="1"/>
          <p:nvPr/>
        </p:nvSpPr>
        <p:spPr>
          <a:xfrm>
            <a:off x="457200" y="6656832"/>
            <a:ext cx="11277295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· Processes &amp; Compliance Joint · Top Risk Management Services Provider in Latin America</a:t>
            </a:r>
            <a:endParaRPr lang="en-US" sz="700" dirty="0"/>
          </a:p>
        </p:txBody>
      </p:sp>
      <p:sp>
        <p:nvSpPr>
          <p:cNvPr id="118" name="V3 sketch heading"/>
          <p:cNvSpPr txBox="1"/>
          <p:nvPr/>
        </p:nvSpPr>
        <p:spPr>
          <a:xfrm>
            <a:off x="4215384" y="3419856"/>
            <a:ext cx="444398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9447D"/>
                </a:solidFill>
                <a:latin typeface="Calibri"/>
              </a:rPr>
              <a:t>The agent in action</a:t>
            </a:r>
          </a:p>
        </p:txBody>
      </p:sp>
      <p:sp>
        <p:nvSpPr>
          <p:cNvPr id="119" name="V3 role 0"/>
          <p:cNvSpPr txBox="1"/>
          <p:nvPr/>
        </p:nvSpPr>
        <p:spPr>
          <a:xfrm>
            <a:off x="4142231" y="3675887"/>
            <a:ext cx="133502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66758C"/>
                </a:solidFill>
                <a:latin typeface="Calibri"/>
              </a:rPr>
              <a:t>INPUTS</a:t>
            </a:r>
          </a:p>
        </p:txBody>
      </p:sp>
      <p:sp>
        <p:nvSpPr>
          <p:cNvPr id="120" name="V3 circle 0"/>
          <p:cNvSpPr/>
          <p:nvPr/>
        </p:nvSpPr>
        <p:spPr>
          <a:xfrm>
            <a:off x="4581144" y="3867912"/>
            <a:ext cx="457200" cy="457200"/>
          </a:xfrm>
          <a:prstGeom prst="ellipse">
            <a:avLst/>
          </a:prstGeom>
          <a:solidFill>
            <a:srgbClr val="DCE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1" name="V3 icon 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6864" y="3913632"/>
            <a:ext cx="365760" cy="365760"/>
          </a:xfrm>
          <a:prstGeom prst="rect">
            <a:avLst/>
          </a:prstGeom>
        </p:spPr>
      </p:pic>
      <p:sp>
        <p:nvSpPr>
          <p:cNvPr id="122" name="V3 badge 0"/>
          <p:cNvSpPr/>
          <p:nvPr/>
        </p:nvSpPr>
        <p:spPr>
          <a:xfrm>
            <a:off x="4489704" y="3817620"/>
            <a:ext cx="155448" cy="155448"/>
          </a:xfrm>
          <a:prstGeom prst="ellipse">
            <a:avLst/>
          </a:prstGeom>
          <a:solidFill>
            <a:srgbClr val="194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3" name="V3 label 0"/>
          <p:cNvSpPr txBox="1"/>
          <p:nvPr/>
        </p:nvSpPr>
        <p:spPr>
          <a:xfrm>
            <a:off x="4078224" y="4370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19447D"/>
                </a:solidFill>
                <a:latin typeface="Calibri"/>
              </a:rPr>
              <a:t>Quality issue</a:t>
            </a:r>
          </a:p>
          <a:p>
            <a:pPr algn="ctr"/>
            <a:r>
              <a:rPr sz="830" b="1">
                <a:solidFill>
                  <a:srgbClr val="19447D"/>
                </a:solidFill>
                <a:latin typeface="Calibri"/>
              </a:rPr>
              <a:t>&amp; evidence</a:t>
            </a:r>
          </a:p>
        </p:txBody>
      </p:sp>
      <p:sp>
        <p:nvSpPr>
          <p:cNvPr id="124" name="V3 role 1"/>
          <p:cNvSpPr txBox="1"/>
          <p:nvPr/>
        </p:nvSpPr>
        <p:spPr>
          <a:xfrm>
            <a:off x="5779008" y="3675887"/>
            <a:ext cx="133502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C1862F"/>
                </a:solidFill>
                <a:latin typeface="Calibri"/>
              </a:rPr>
              <a:t>AI AGENT</a:t>
            </a:r>
          </a:p>
        </p:txBody>
      </p:sp>
      <p:sp>
        <p:nvSpPr>
          <p:cNvPr id="125" name="V3 circle 1"/>
          <p:cNvSpPr/>
          <p:nvPr/>
        </p:nvSpPr>
        <p:spPr>
          <a:xfrm>
            <a:off x="6217920" y="3867912"/>
            <a:ext cx="457200" cy="457200"/>
          </a:xfrm>
          <a:prstGeom prst="ellipse">
            <a:avLst/>
          </a:prstGeom>
          <a:solidFill>
            <a:srgbClr val="F8E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V3 icon 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3640" y="3913632"/>
            <a:ext cx="365760" cy="365760"/>
          </a:xfrm>
          <a:prstGeom prst="rect">
            <a:avLst/>
          </a:prstGeom>
        </p:spPr>
      </p:pic>
      <p:sp>
        <p:nvSpPr>
          <p:cNvPr id="127" name="V3 badge 1"/>
          <p:cNvSpPr/>
          <p:nvPr/>
        </p:nvSpPr>
        <p:spPr>
          <a:xfrm>
            <a:off x="6126480" y="3817620"/>
            <a:ext cx="155448" cy="155448"/>
          </a:xfrm>
          <a:prstGeom prst="ellipse">
            <a:avLst/>
          </a:prstGeom>
          <a:solidFill>
            <a:srgbClr val="C18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8" name="V3 label 1"/>
          <p:cNvSpPr txBox="1"/>
          <p:nvPr/>
        </p:nvSpPr>
        <p:spPr>
          <a:xfrm>
            <a:off x="5715000" y="4370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19447D"/>
                </a:solidFill>
                <a:latin typeface="Calibri"/>
              </a:rPr>
              <a:t>Drafts 8D &amp;</a:t>
            </a:r>
          </a:p>
          <a:p>
            <a:pPr algn="ctr"/>
            <a:r>
              <a:rPr sz="830" b="1">
                <a:solidFill>
                  <a:srgbClr val="19447D"/>
                </a:solidFill>
                <a:latin typeface="Calibri"/>
              </a:rPr>
              <a:t>checks consistency</a:t>
            </a:r>
          </a:p>
        </p:txBody>
      </p:sp>
      <p:sp>
        <p:nvSpPr>
          <p:cNvPr id="129" name="V3 role 2"/>
          <p:cNvSpPr txBox="1"/>
          <p:nvPr/>
        </p:nvSpPr>
        <p:spPr>
          <a:xfrm>
            <a:off x="7415783" y="3675887"/>
            <a:ext cx="1335024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" b="1" i="0">
                <a:solidFill>
                  <a:srgbClr val="66758C"/>
                </a:solidFill>
                <a:latin typeface="Calibri"/>
              </a:rPr>
              <a:t>OUTPUT</a:t>
            </a:r>
          </a:p>
        </p:txBody>
      </p:sp>
      <p:sp>
        <p:nvSpPr>
          <p:cNvPr id="130" name="V3 circle 2"/>
          <p:cNvSpPr/>
          <p:nvPr/>
        </p:nvSpPr>
        <p:spPr>
          <a:xfrm>
            <a:off x="7854696" y="3867912"/>
            <a:ext cx="457200" cy="457200"/>
          </a:xfrm>
          <a:prstGeom prst="ellipse">
            <a:avLst/>
          </a:prstGeom>
          <a:solidFill>
            <a:srgbClr val="DCE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V3 icon 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00416" y="3913632"/>
            <a:ext cx="365760" cy="365760"/>
          </a:xfrm>
          <a:prstGeom prst="rect">
            <a:avLst/>
          </a:prstGeom>
        </p:spPr>
      </p:pic>
      <p:sp>
        <p:nvSpPr>
          <p:cNvPr id="132" name="V3 badge 2"/>
          <p:cNvSpPr/>
          <p:nvPr/>
        </p:nvSpPr>
        <p:spPr>
          <a:xfrm>
            <a:off x="7763256" y="3817620"/>
            <a:ext cx="155448" cy="155448"/>
          </a:xfrm>
          <a:prstGeom prst="ellipse">
            <a:avLst/>
          </a:prstGeom>
          <a:solidFill>
            <a:srgbClr val="194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3" name="V3 label 2"/>
          <p:cNvSpPr txBox="1"/>
          <p:nvPr/>
        </p:nvSpPr>
        <p:spPr>
          <a:xfrm>
            <a:off x="7351775" y="4370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30" b="1">
                <a:solidFill>
                  <a:srgbClr val="19447D"/>
                </a:solidFill>
                <a:latin typeface="Calibri"/>
              </a:rPr>
              <a:t>8D draft &amp;</a:t>
            </a:r>
          </a:p>
          <a:p>
            <a:pPr algn="ctr"/>
            <a:r>
              <a:rPr sz="830" b="1">
                <a:solidFill>
                  <a:srgbClr val="19447D"/>
                </a:solidFill>
                <a:latin typeface="Calibri"/>
              </a:rPr>
              <a:t>PQM follow-up</a:t>
            </a:r>
          </a:p>
        </p:txBody>
      </p:sp>
      <p:sp>
        <p:nvSpPr>
          <p:cNvPr id="134" name="V3 arrow"/>
          <p:cNvSpPr/>
          <p:nvPr/>
        </p:nvSpPr>
        <p:spPr>
          <a:xfrm>
            <a:off x="5175504" y="4055364"/>
            <a:ext cx="905256" cy="82296"/>
          </a:xfrm>
          <a:prstGeom prst="rightArrow">
            <a:avLst/>
          </a:prstGeom>
          <a:solidFill>
            <a:srgbClr val="C18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V3 arrow"/>
          <p:cNvSpPr/>
          <p:nvPr/>
        </p:nvSpPr>
        <p:spPr>
          <a:xfrm>
            <a:off x="6812280" y="4055364"/>
            <a:ext cx="905256" cy="82296"/>
          </a:xfrm>
          <a:prstGeom prst="rightArrow">
            <a:avLst/>
          </a:prstGeom>
          <a:solidFill>
            <a:srgbClr val="C18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V3 considerations"/>
          <p:cNvSpPr txBox="1"/>
          <p:nvPr/>
        </p:nvSpPr>
        <p:spPr>
          <a:xfrm>
            <a:off x="4215384" y="4773168"/>
            <a:ext cx="44439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60" b="0" i="1">
                <a:solidFill>
                  <a:srgbClr val="66758C"/>
                </a:solidFill>
                <a:latin typeface="Calibri"/>
              </a:rPr>
              <a:t>Considerations: needs a disciplined, controlled evidence repository · RAG is only as good as the digitised 8D history available.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1388</Words>
  <Application>Microsoft Office PowerPoint</Application>
  <PresentationFormat>Widescreen</PresentationFormat>
  <Paragraphs>140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Eduardo Ramirez Millan</cp:lastModifiedBy>
  <cp:revision>1</cp:revision>
  <dcterms:created xsi:type="dcterms:W3CDTF">2026-09-06T03:09:26Z</dcterms:created>
  <dcterms:modified xsi:type="dcterms:W3CDTF">2026-09-06T03:14:27Z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871b80c-ba46-4bfb-8ae2-045b5c64b754_Enabled">
    <vt:lpwstr>true</vt:lpwstr>
  </property>
  <property fmtid="{D5CDD505-2E9C-101B-9397-08002B2CF9AE}" pid="3" name="MSIP_Label_9871b80c-ba46-4bfb-8ae2-045b5c64b754_SetDate">
    <vt:lpwstr>2026-09-06T03:14:27Z</vt:lpwstr>
  </property>
  <property fmtid="{D5CDD505-2E9C-101B-9397-08002B2CF9AE}" pid="4" name="MSIP_Label_9871b80c-ba46-4bfb-8ae2-045b5c64b754_Method">
    <vt:lpwstr>Standard</vt:lpwstr>
  </property>
  <property fmtid="{D5CDD505-2E9C-101B-9397-08002B2CF9AE}" pid="5" name="MSIP_Label_9871b80c-ba46-4bfb-8ae2-045b5c64b754_Name">
    <vt:lpwstr>General</vt:lpwstr>
  </property>
  <property fmtid="{D5CDD505-2E9C-101B-9397-08002B2CF9AE}" pid="6" name="MSIP_Label_9871b80c-ba46-4bfb-8ae2-045b5c64b754_SiteId">
    <vt:lpwstr>38ea53fb-9117-4764-adc6-31f828910b30</vt:lpwstr>
  </property>
  <property fmtid="{D5CDD505-2E9C-101B-9397-08002B2CF9AE}" pid="7" name="MSIP_Label_9871b80c-ba46-4bfb-8ae2-045b5c64b754_ActionId">
    <vt:lpwstr>7a6f7b14-c9db-4dd2-b9a4-e76b80a2e5c0</vt:lpwstr>
  </property>
  <property fmtid="{D5CDD505-2E9C-101B-9397-08002B2CF9AE}" pid="8" name="MSIP_Label_9871b80c-ba46-4bfb-8ae2-045b5c64b754_ContentBits">
    <vt:lpwstr>0</vt:lpwstr>
  </property>
  <property fmtid="{D5CDD505-2E9C-101B-9397-08002B2CF9AE}" pid="9" name="MSIP_Label_9871b80c-ba46-4bfb-8ae2-045b5c64b754_Tag">
    <vt:lpwstr>10, 3, 0, 1</vt:lpwstr>
  </property>
</Properties>
</file>